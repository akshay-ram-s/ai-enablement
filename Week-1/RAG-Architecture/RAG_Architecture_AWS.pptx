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17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Document Search using RAG on 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Retrieval-Augmented Generation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system enables users to query enterprise PDFs, Word and Excel files using AI. It retrieves relevant document data and uses an LLM to generate accurate, context-aware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_flowchart_diagram_illustrates_an_Enterprise_Do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S3 for document storage</a:t>
            </a:r>
          </a:p>
          <a:p>
            <a:r>
              <a:rPr dirty="0"/>
              <a:t>AWS </a:t>
            </a:r>
            <a:r>
              <a:rPr dirty="0" err="1"/>
              <a:t>Textract</a:t>
            </a:r>
            <a:r>
              <a:rPr dirty="0"/>
              <a:t> for text extraction</a:t>
            </a:r>
          </a:p>
          <a:p>
            <a:r>
              <a:rPr dirty="0"/>
              <a:t>Amazon Comprehend for NLP</a:t>
            </a:r>
          </a:p>
          <a:p>
            <a:r>
              <a:rPr dirty="0"/>
              <a:t>Amazon Kendra for vector search</a:t>
            </a:r>
          </a:p>
          <a:p>
            <a:r>
              <a:rPr dirty="0"/>
              <a:t>Amazon Bedrock for LLM</a:t>
            </a:r>
          </a:p>
          <a:p>
            <a:r>
              <a:rPr dirty="0"/>
              <a:t>.NET Web API &amp; API Gateway</a:t>
            </a:r>
          </a:p>
          <a:p>
            <a:r>
              <a:rPr dirty="0"/>
              <a:t>CloudWatch &amp; OpenSearch for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600" b="1" dirty="0"/>
              <a:t>1. Document Ingestion &amp; Storage</a:t>
            </a:r>
          </a:p>
          <a:p>
            <a:r>
              <a:rPr lang="en-IN" dirty="0"/>
              <a:t>All enterprise documents are uploaded and stored securely in </a:t>
            </a:r>
            <a:r>
              <a:rPr lang="en-IN" b="1" dirty="0"/>
              <a:t>Amazon S3</a:t>
            </a:r>
            <a:r>
              <a:rPr lang="en-IN" dirty="0"/>
              <a:t>. These files may include:</a:t>
            </a:r>
          </a:p>
          <a:p>
            <a:r>
              <a:rPr lang="en-IN" dirty="0"/>
              <a:t>HR policies</a:t>
            </a:r>
          </a:p>
          <a:p>
            <a:r>
              <a:rPr lang="en-IN" dirty="0"/>
              <a:t>Legal contracts</a:t>
            </a:r>
          </a:p>
          <a:p>
            <a:r>
              <a:rPr lang="en-IN" dirty="0"/>
              <a:t>Financial reports</a:t>
            </a:r>
          </a:p>
          <a:p>
            <a:r>
              <a:rPr lang="en-IN" dirty="0"/>
              <a:t>Operational manuals</a:t>
            </a:r>
          </a:p>
          <a:p>
            <a:r>
              <a:rPr lang="en-IN" dirty="0"/>
              <a:t>Whenever a new document is uploaded, it is automatically sent for processing.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3600" b="1" dirty="0"/>
              <a:t>2.  Text Extraction &amp; Preprocessing</a:t>
            </a:r>
          </a:p>
          <a:p>
            <a:r>
              <a:rPr lang="en-IN" dirty="0"/>
              <a:t>Documents in formats like PDF, Word, or scanned images are processed using </a:t>
            </a:r>
            <a:r>
              <a:rPr lang="en-IN" b="1" dirty="0"/>
              <a:t>AWS </a:t>
            </a:r>
            <a:r>
              <a:rPr lang="en-IN" b="1" dirty="0" err="1"/>
              <a:t>Textract</a:t>
            </a:r>
            <a:r>
              <a:rPr lang="en-IN" dirty="0"/>
              <a:t>, which extracts raw text from them.</a:t>
            </a:r>
          </a:p>
          <a:p>
            <a:r>
              <a:rPr lang="en-IN" dirty="0"/>
              <a:t>The extracted text is then passed to </a:t>
            </a:r>
            <a:r>
              <a:rPr lang="en-IN" b="1" dirty="0"/>
              <a:t>Amazon Comprehend</a:t>
            </a:r>
            <a:r>
              <a:rPr lang="en-IN" dirty="0"/>
              <a:t>, which performs Natural Language Processing (NLP) to identify:</a:t>
            </a:r>
          </a:p>
          <a:p>
            <a:pPr marL="0" indent="0">
              <a:buNone/>
            </a:pPr>
            <a:r>
              <a:rPr lang="en-IN" dirty="0"/>
              <a:t>        a) Important entities</a:t>
            </a:r>
          </a:p>
          <a:p>
            <a:pPr marL="0" indent="0">
              <a:buNone/>
            </a:pPr>
            <a:r>
              <a:rPr lang="en-IN" dirty="0"/>
              <a:t>        b) Key phrases</a:t>
            </a:r>
          </a:p>
          <a:p>
            <a:pPr marL="0" indent="0">
              <a:buNone/>
            </a:pPr>
            <a:r>
              <a:rPr lang="en-IN" dirty="0"/>
              <a:t>        c) Language structure</a:t>
            </a:r>
          </a:p>
          <a:p>
            <a:r>
              <a:rPr lang="en-IN" dirty="0"/>
              <a:t>The cleaned and structured text is split into smaller meaningful chunks to improve search accuracy.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7B2D-54FF-A0A8-6D55-08D04156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7674"/>
            <a:ext cx="8229600" cy="530240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600" b="1" dirty="0"/>
              <a:t>3. Vectorization &amp; Indexing</a:t>
            </a:r>
          </a:p>
          <a:p>
            <a:r>
              <a:rPr lang="en-IN" dirty="0"/>
              <a:t>Each text chunk is converted into a numerical vector (embedding) that captures its semantic meaning. These embeddings are stored in </a:t>
            </a:r>
            <a:r>
              <a:rPr lang="en-IN" b="1" dirty="0"/>
              <a:t>Amazon Kendra</a:t>
            </a:r>
            <a:r>
              <a:rPr lang="en-IN" dirty="0"/>
              <a:t>, which acts as the </a:t>
            </a:r>
            <a:r>
              <a:rPr lang="en-IN" b="1" dirty="0"/>
              <a:t>vector search engine</a:t>
            </a:r>
            <a:r>
              <a:rPr lang="en-IN" dirty="0"/>
              <a:t>.</a:t>
            </a:r>
          </a:p>
          <a:p>
            <a:r>
              <a:rPr lang="en-IN" dirty="0"/>
              <a:t>This allows the system to find information based on meaning rather than just keywords.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3600" b="1" dirty="0"/>
              <a:t>4. User Query Processing</a:t>
            </a:r>
          </a:p>
          <a:p>
            <a:r>
              <a:rPr lang="en-IN" dirty="0"/>
              <a:t>When a user enters a question (for example, </a:t>
            </a:r>
            <a:r>
              <a:rPr lang="en-IN" i="1" dirty="0"/>
              <a:t>“What is our maternity leave policy?”</a:t>
            </a:r>
            <a:r>
              <a:rPr lang="en-IN" dirty="0"/>
              <a:t>), the request flows through:</a:t>
            </a:r>
          </a:p>
          <a:p>
            <a:r>
              <a:rPr lang="en-IN" b="1" dirty="0"/>
              <a:t>Amazon API Gateway</a:t>
            </a:r>
            <a:endParaRPr lang="en-IN" dirty="0"/>
          </a:p>
          <a:p>
            <a:r>
              <a:rPr lang="en-IN" b="1" dirty="0"/>
              <a:t>.NET Web API</a:t>
            </a:r>
            <a:endParaRPr lang="en-IN" dirty="0"/>
          </a:p>
          <a:p>
            <a:r>
              <a:rPr lang="en-IN" dirty="0"/>
              <a:t>The query is converted into an embedding using </a:t>
            </a:r>
            <a:r>
              <a:rPr lang="en-IN" b="1" dirty="0"/>
              <a:t>Amazon Bedrock</a:t>
            </a:r>
            <a:r>
              <a:rPr lang="en-IN" dirty="0"/>
              <a:t> so it can be matched against document embeddings in Amazon Kendra.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3600" b="1" dirty="0"/>
              <a:t>5. Semantic Retrieval</a:t>
            </a:r>
          </a:p>
          <a:p>
            <a:r>
              <a:rPr lang="en-IN" dirty="0"/>
              <a:t>The query embedding is sent to </a:t>
            </a:r>
            <a:r>
              <a:rPr lang="en-IN" b="1" dirty="0"/>
              <a:t>Amazon Kendra</a:t>
            </a:r>
            <a:r>
              <a:rPr lang="en-IN" dirty="0"/>
              <a:t>, which searches across all indexed document vectors and retrieves the most relevant document chunks related to the question.</a:t>
            </a:r>
          </a:p>
          <a:p>
            <a:r>
              <a:rPr lang="en-IN" dirty="0"/>
              <a:t>This ensures that the system always works with </a:t>
            </a:r>
            <a:r>
              <a:rPr lang="en-IN" b="1" dirty="0"/>
              <a:t>real enterprise data</a:t>
            </a:r>
            <a:r>
              <a:rPr lang="en-IN" dirty="0"/>
              <a:t> instead of guessing.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3B885D-4179-853F-0FF8-CC77A8D8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5060"/>
            <a:ext cx="8229600" cy="536788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600" b="1" dirty="0"/>
              <a:t>6. RAG-based Answer Generation</a:t>
            </a:r>
          </a:p>
          <a:p>
            <a:r>
              <a:rPr lang="en-IN" dirty="0"/>
              <a:t>The retrieved document chunks are combined with the user’s original query and sent to the </a:t>
            </a:r>
            <a:r>
              <a:rPr lang="en-IN" b="1" dirty="0"/>
              <a:t>Large Language Model (LLM)</a:t>
            </a:r>
            <a:r>
              <a:rPr lang="en-IN" dirty="0"/>
              <a:t> in </a:t>
            </a:r>
            <a:r>
              <a:rPr lang="en-IN" b="1" dirty="0"/>
              <a:t>Amazon Bedrock</a:t>
            </a:r>
            <a:r>
              <a:rPr lang="en-IN" dirty="0"/>
              <a:t>.</a:t>
            </a:r>
          </a:p>
          <a:p>
            <a:r>
              <a:rPr lang="en-IN" dirty="0"/>
              <a:t>The LLM:</a:t>
            </a:r>
          </a:p>
          <a:p>
            <a:pPr marL="0" indent="0">
              <a:buNone/>
            </a:pPr>
            <a:r>
              <a:rPr lang="en-IN" dirty="0"/>
              <a:t>        a) Reads the provided context</a:t>
            </a:r>
          </a:p>
          <a:p>
            <a:pPr marL="0" indent="0">
              <a:buNone/>
            </a:pPr>
            <a:r>
              <a:rPr lang="en-IN" dirty="0"/>
              <a:t>        b) Understands the question</a:t>
            </a:r>
          </a:p>
          <a:p>
            <a:pPr marL="0" indent="0">
              <a:buNone/>
            </a:pPr>
            <a:r>
              <a:rPr lang="en-IN" dirty="0"/>
              <a:t>        c) Generates a precise, grounded answer</a:t>
            </a:r>
          </a:p>
          <a:p>
            <a:r>
              <a:rPr lang="en-IN" dirty="0"/>
              <a:t>Since the answer is generated using retrieved enterprise content, hallucinations are eliminated.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3600" b="1" dirty="0"/>
              <a:t>7. Response Delivery</a:t>
            </a:r>
          </a:p>
          <a:p>
            <a:r>
              <a:rPr lang="en-IN" dirty="0"/>
              <a:t>The final answer is returned via:</a:t>
            </a:r>
          </a:p>
          <a:p>
            <a:r>
              <a:rPr lang="en-IN" b="1" dirty="0"/>
              <a:t>Amazon Bedrock → .NET Web API → API Gateway → User Interface</a:t>
            </a:r>
            <a:endParaRPr lang="en-IN" dirty="0"/>
          </a:p>
          <a:p>
            <a:r>
              <a:rPr lang="en-IN" dirty="0"/>
              <a:t>The user receives a clear, natural-language response that is directly backed by company documents.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3600" b="1" dirty="0"/>
              <a:t>8. Monitoring &amp; Analytics</a:t>
            </a:r>
          </a:p>
          <a:p>
            <a:r>
              <a:rPr lang="en-IN" dirty="0"/>
              <a:t>All system activity, including queries and document searches, is tracked using:</a:t>
            </a:r>
          </a:p>
          <a:p>
            <a:r>
              <a:rPr lang="en-IN" b="1" dirty="0"/>
              <a:t>Amazon CloudWatch Logs</a:t>
            </a:r>
            <a:r>
              <a:rPr lang="en-IN" dirty="0"/>
              <a:t> for system health and errors</a:t>
            </a:r>
          </a:p>
          <a:p>
            <a:r>
              <a:rPr lang="en-IN" b="1" dirty="0"/>
              <a:t>Amazon OpenSearch</a:t>
            </a:r>
            <a:r>
              <a:rPr lang="en-IN" dirty="0"/>
              <a:t> for search analytics, trends, and performance insights</a:t>
            </a:r>
          </a:p>
          <a:p>
            <a:r>
              <a:rPr lang="en-IN" dirty="0"/>
              <a:t>This allows enterprises to audit, monitor, and optimize the AI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D236-2CAA-077B-4DF1-CCE037DE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14D5-5A97-4CD9-44BE-628AD38E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561"/>
            <a:ext cx="8229600" cy="4525963"/>
          </a:xfrm>
        </p:spPr>
        <p:txBody>
          <a:bodyPr>
            <a:normAutofit/>
          </a:bodyPr>
          <a:lstStyle/>
          <a:p>
            <a:r>
              <a:rPr lang="en-IN" sz="2000" dirty="0"/>
              <a:t>This RAG-based architecture ensures that enterprise users always get </a:t>
            </a:r>
            <a:r>
              <a:rPr lang="en-IN" sz="2000" b="1" dirty="0"/>
              <a:t>accurate, up-to-date, and secure answers</a:t>
            </a:r>
            <a:r>
              <a:rPr lang="en-IN" sz="2000" dirty="0"/>
              <a:t> from their private documents. </a:t>
            </a:r>
          </a:p>
          <a:p>
            <a:r>
              <a:rPr lang="en-IN" sz="2000" dirty="0"/>
              <a:t>By combining AWS cloud services with advanced AI models, the system delivers a powerful, scalable, and production-ready enterprise knowledge platform.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602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F53A-CB8E-0CAA-C46C-3F8C2676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54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585</Words>
  <Application>Microsoft Macintosh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Enterprise Document Search using RAG on AWS</vt:lpstr>
      <vt:lpstr>Project Overview</vt:lpstr>
      <vt:lpstr>PowerPoint Presentation</vt:lpstr>
      <vt:lpstr>Core Architecture Components</vt:lpstr>
      <vt:lpstr>How RAG Works</vt:lpstr>
      <vt:lpstr>PowerPoint Presentation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S, Akshay Ram</cp:lastModifiedBy>
  <cp:revision>2</cp:revision>
  <dcterms:created xsi:type="dcterms:W3CDTF">2013-01-27T09:14:16Z</dcterms:created>
  <dcterms:modified xsi:type="dcterms:W3CDTF">2026-01-12T10:21:06Z</dcterms:modified>
  <cp:category/>
</cp:coreProperties>
</file>