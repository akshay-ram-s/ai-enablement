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6"/>
  </p:normalViewPr>
  <p:slideViewPr>
    <p:cSldViewPr snapToGrid="0" snapToObjects="1">
      <p:cViewPr varScale="1">
        <p:scale>
          <a:sx n="114" d="100"/>
          <a:sy n="114" d="100"/>
        </p:scale>
        <p:origin x="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Enterprise Document Search using RAG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Real-time Retrieval-Augmented Generation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system enables users to query enterprise PDFs, Word and Excel files using AI. It retrieves relevant document data and uses an LLM to generate accurate, context-aware answers.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ARCHITECTURE</a:t>
            </a:r>
            <a:br>
              <a:rPr lang="en-US" dirty="0"/>
            </a:br>
            <a:endParaRPr dirty="0"/>
          </a:p>
        </p:txBody>
      </p:sp>
      <p:pic>
        <p:nvPicPr>
          <p:cNvPr id="5" name="Picture 4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3A3073CD-C750-EB6C-D500-0BC134E27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288" y="1014761"/>
            <a:ext cx="4275424" cy="55686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4468"/>
            <a:ext cx="8229600" cy="550169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sz="3900" b="1" dirty="0"/>
              <a:t>Data Ingestion &amp; Preprocessing</a:t>
            </a:r>
            <a:r>
              <a:rPr lang="en-IN" sz="3900" dirty="0"/>
              <a:t> </a:t>
            </a:r>
          </a:p>
          <a:p>
            <a:r>
              <a:rPr lang="en-IN" b="1" dirty="0"/>
              <a:t>Purpose:</a:t>
            </a:r>
            <a:r>
              <a:rPr lang="en-IN" dirty="0"/>
              <a:t> Convert raw documents into clean, searchable chunks</a:t>
            </a:r>
          </a:p>
          <a:p>
            <a:r>
              <a:rPr lang="en-IN" b="1" dirty="0"/>
              <a:t>Steps:</a:t>
            </a:r>
            <a:endParaRPr lang="en-IN" dirty="0"/>
          </a:p>
          <a:p>
            <a:r>
              <a:rPr lang="en-IN" b="1" dirty="0"/>
              <a:t>Document Sources</a:t>
            </a:r>
            <a:r>
              <a:rPr lang="en-IN" dirty="0"/>
              <a:t> → PDFs, Word, TXT, scanned images, etc.</a:t>
            </a:r>
          </a:p>
          <a:p>
            <a:r>
              <a:rPr lang="en-IN" b="1" dirty="0"/>
              <a:t>Data Extraction</a:t>
            </a:r>
            <a:r>
              <a:rPr lang="en-IN" dirty="0"/>
              <a:t> → Parse content (use libraries like </a:t>
            </a:r>
            <a:r>
              <a:rPr lang="en-IN" dirty="0" err="1"/>
              <a:t>PyPDF</a:t>
            </a:r>
            <a:r>
              <a:rPr lang="en-IN" dirty="0"/>
              <a:t>, docx, </a:t>
            </a:r>
            <a:r>
              <a:rPr lang="en-IN" dirty="0" err="1"/>
              <a:t>Textract</a:t>
            </a:r>
            <a:r>
              <a:rPr lang="en-IN" dirty="0"/>
              <a:t> for scanned docs)</a:t>
            </a:r>
          </a:p>
          <a:p>
            <a:r>
              <a:rPr lang="en-IN" b="1" dirty="0"/>
              <a:t>Text Cleaning &amp; Chunking</a:t>
            </a:r>
            <a:r>
              <a:rPr lang="en-IN" dirty="0"/>
              <a:t> → Remove noise, normalize, split into 300–800 token chunks with overlap</a:t>
            </a:r>
          </a:p>
          <a:p>
            <a:r>
              <a:rPr lang="en-IN" b="1" dirty="0"/>
              <a:t>Metadata Extraction</a:t>
            </a:r>
            <a:r>
              <a:rPr lang="en-IN" dirty="0"/>
              <a:t> → Capture filename, page number, date, author, section title, etc. (enables filtering later)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24830"/>
            <a:ext cx="8229600" cy="540133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3600" b="1" dirty="0"/>
              <a:t>Embedding Generation</a:t>
            </a:r>
            <a:r>
              <a:rPr lang="en-IN" sz="3600" dirty="0"/>
              <a:t> </a:t>
            </a:r>
          </a:p>
          <a:p>
            <a:pPr marL="0" indent="0">
              <a:buNone/>
            </a:pPr>
            <a:r>
              <a:rPr lang="en-IN" sz="3600" b="1" dirty="0"/>
              <a:t>Purpose:</a:t>
            </a:r>
            <a:r>
              <a:rPr lang="en-IN" sz="3600" dirty="0"/>
              <a:t> Transform text chunks into dense numerical vectors for semantic similarity</a:t>
            </a:r>
          </a:p>
          <a:p>
            <a:pPr marL="0" indent="0">
              <a:buNone/>
            </a:pPr>
            <a:endParaRPr lang="en-IN" sz="3600" b="1" dirty="0"/>
          </a:p>
          <a:p>
            <a:pPr marL="0" indent="0">
              <a:buNone/>
            </a:pPr>
            <a:r>
              <a:rPr lang="en-IN" sz="3600" b="1" dirty="0"/>
              <a:t>Key Elements:</a:t>
            </a:r>
            <a:endParaRPr lang="en-IN" sz="3600" dirty="0"/>
          </a:p>
          <a:p>
            <a:r>
              <a:rPr lang="en-IN" sz="3600" b="1" dirty="0"/>
              <a:t>Embedding Model</a:t>
            </a:r>
            <a:r>
              <a:rPr lang="en-IN" sz="3600" dirty="0"/>
              <a:t> → e.g., Sentence-BERT, text-embedding-ada-002, Amazon Titan Embeddings, Cohere Embed, etc.</a:t>
            </a:r>
          </a:p>
          <a:p>
            <a:r>
              <a:rPr lang="en-IN" sz="3600" dirty="0"/>
              <a:t>Input: Cleaned chunks + metadata</a:t>
            </a:r>
          </a:p>
          <a:p>
            <a:r>
              <a:rPr lang="en-IN" sz="3600" dirty="0"/>
              <a:t>Output: High-dimensional vectors (e.g., 768 or 1536 dimensions)</a:t>
            </a:r>
          </a:p>
          <a:p>
            <a:r>
              <a:rPr lang="en-IN" sz="3600" dirty="0"/>
              <a:t>Store vectors + original text + metadata together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07B2D-54FF-A0A8-6D55-08D04156F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1376"/>
            <a:ext cx="8229600" cy="550870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3600" b="1" dirty="0"/>
              <a:t>Vector Database &amp; Storage</a:t>
            </a:r>
            <a:r>
              <a:rPr lang="en-IN" sz="3600" dirty="0"/>
              <a:t> </a:t>
            </a:r>
          </a:p>
          <a:p>
            <a:pPr marL="0" indent="0">
              <a:buNone/>
            </a:pPr>
            <a:r>
              <a:rPr lang="en-IN" sz="3600" b="1" dirty="0"/>
              <a:t>Purpose:</a:t>
            </a:r>
            <a:r>
              <a:rPr lang="en-IN" sz="3600" dirty="0"/>
              <a:t> Enable fast similarity search over millions of vectors</a:t>
            </a:r>
          </a:p>
          <a:p>
            <a:pPr marL="0" indent="0">
              <a:buNone/>
            </a:pPr>
            <a:endParaRPr lang="en-IN" sz="3600" b="1" dirty="0"/>
          </a:p>
          <a:p>
            <a:pPr marL="0" indent="0">
              <a:buNone/>
            </a:pPr>
            <a:r>
              <a:rPr lang="en-IN" sz="3600" b="1" dirty="0"/>
              <a:t>Components:</a:t>
            </a:r>
            <a:endParaRPr lang="en-IN" sz="3600" dirty="0"/>
          </a:p>
          <a:p>
            <a:r>
              <a:rPr lang="en-IN" sz="3600" b="1" dirty="0"/>
              <a:t>Vector Database</a:t>
            </a:r>
            <a:r>
              <a:rPr lang="en-IN" sz="3600" dirty="0"/>
              <a:t> → Pinecone, FAISS (local), </a:t>
            </a:r>
            <a:r>
              <a:rPr lang="en-IN" sz="3600" dirty="0" err="1"/>
              <a:t>Weaviate</a:t>
            </a:r>
            <a:r>
              <a:rPr lang="en-IN" sz="3600" dirty="0"/>
              <a:t>, </a:t>
            </a:r>
            <a:r>
              <a:rPr lang="en-IN" sz="3600" dirty="0" err="1"/>
              <a:t>Qdrant</a:t>
            </a:r>
            <a:r>
              <a:rPr lang="en-IN" sz="3600" dirty="0"/>
              <a:t>, Milvus, Amazon OpenSearch Serverless (vector engine), </a:t>
            </a:r>
            <a:r>
              <a:rPr lang="en-IN" sz="3600" dirty="0" err="1"/>
              <a:t>pgvector</a:t>
            </a:r>
            <a:r>
              <a:rPr lang="en-IN" sz="3600" dirty="0"/>
              <a:t> on RDS/Aurora</a:t>
            </a:r>
          </a:p>
          <a:p>
            <a:r>
              <a:rPr lang="en-IN" sz="3600" dirty="0"/>
              <a:t>Supports: Approximate Nearest </a:t>
            </a:r>
            <a:r>
              <a:rPr lang="en-IN" sz="3600" dirty="0" err="1"/>
              <a:t>Neighbor</a:t>
            </a:r>
            <a:r>
              <a:rPr lang="en-IN" sz="3600" dirty="0"/>
              <a:t> (ANN) search (HNSW, IVF, etc.)</a:t>
            </a:r>
          </a:p>
          <a:p>
            <a:r>
              <a:rPr lang="en-IN" sz="3600" dirty="0"/>
              <a:t>Stores: Vector + payload (text chunk, metadata)</a:t>
            </a:r>
          </a:p>
          <a:p>
            <a:r>
              <a:rPr lang="en-IN" sz="3600" dirty="0"/>
              <a:t>Optional: Hybrid search (vector + keyword/BM25)</a:t>
            </a:r>
          </a:p>
        </p:txBody>
      </p:sp>
    </p:spTree>
    <p:extLst>
      <p:ext uri="{BB962C8B-B14F-4D97-AF65-F5344CB8AC3E}">
        <p14:creationId xmlns:p14="http://schemas.microsoft.com/office/powerpoint/2010/main" val="271039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03B885D-4179-853F-0FF8-CC77A8D80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45060"/>
            <a:ext cx="8229600" cy="536788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3600" b="1" dirty="0"/>
              <a:t>Query Processing</a:t>
            </a:r>
            <a:r>
              <a:rPr lang="en-IN" sz="3600" dirty="0"/>
              <a:t> </a:t>
            </a:r>
          </a:p>
          <a:p>
            <a:pPr marL="0" indent="0">
              <a:buNone/>
            </a:pPr>
            <a:r>
              <a:rPr lang="en-IN" sz="3600" b="1" dirty="0"/>
              <a:t>Purpose:</a:t>
            </a:r>
            <a:r>
              <a:rPr lang="en-IN" sz="3600" dirty="0"/>
              <a:t> Find the most relevant context for the user's question</a:t>
            </a:r>
          </a:p>
          <a:p>
            <a:pPr marL="0" indent="0">
              <a:buNone/>
            </a:pPr>
            <a:endParaRPr lang="en-IN" sz="3600" b="1" dirty="0"/>
          </a:p>
          <a:p>
            <a:pPr marL="0" indent="0">
              <a:buNone/>
            </a:pPr>
            <a:r>
              <a:rPr lang="en-IN" sz="3600" b="1" dirty="0"/>
              <a:t>Steps:</a:t>
            </a:r>
            <a:endParaRPr lang="en-IN" sz="3600" dirty="0"/>
          </a:p>
          <a:p>
            <a:r>
              <a:rPr lang="en-IN" sz="3600" b="1" dirty="0"/>
              <a:t>User Query</a:t>
            </a:r>
            <a:r>
              <a:rPr lang="en-IN" sz="3600" dirty="0"/>
              <a:t> → Natural language question</a:t>
            </a:r>
          </a:p>
          <a:p>
            <a:r>
              <a:rPr lang="en-IN" sz="3600" b="1" dirty="0"/>
              <a:t>Query Embedding</a:t>
            </a:r>
            <a:r>
              <a:rPr lang="en-IN" sz="3600" dirty="0"/>
              <a:t> → Same model as ingestion → convert query to vector</a:t>
            </a:r>
          </a:p>
          <a:p>
            <a:r>
              <a:rPr lang="en-IN" sz="3600" b="1" dirty="0"/>
              <a:t>Query Encoder</a:t>
            </a:r>
            <a:r>
              <a:rPr lang="en-IN" sz="3600" dirty="0"/>
              <a:t> → Optional preprocessing (rewrite query, expand synonyms, etc.)</a:t>
            </a:r>
          </a:p>
          <a:p>
            <a:r>
              <a:rPr lang="en-IN" sz="3600" b="1" dirty="0"/>
              <a:t>Retrieval</a:t>
            </a:r>
            <a:r>
              <a:rPr lang="en-IN" sz="3600" dirty="0"/>
              <a:t> → Search vector DB → Get top-k (usually 3–10) most similar chunks</a:t>
            </a:r>
          </a:p>
          <a:p>
            <a:r>
              <a:rPr lang="en-IN" sz="3600" dirty="0"/>
              <a:t>Optional: Reranking (e.g., Cohere </a:t>
            </a:r>
            <a:r>
              <a:rPr lang="en-IN" sz="3600" dirty="0" err="1"/>
              <a:t>Rerank</a:t>
            </a:r>
            <a:r>
              <a:rPr lang="en-IN" sz="3600" dirty="0"/>
              <a:t>) for better precision</a:t>
            </a:r>
          </a:p>
          <a:p>
            <a:r>
              <a:rPr lang="en-IN" sz="3600" b="1" dirty="0"/>
              <a:t>Visual:</a:t>
            </a:r>
            <a:r>
              <a:rPr lang="en-IN" sz="3600" dirty="0"/>
              <a:t> Right side of your diagram (User Query → Query Embedding → Retrieval)</a:t>
            </a:r>
            <a:endParaRPr lang="en-IN" sz="3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42562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D14D5-5A97-4CD9-44BE-628AD38EF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0585"/>
            <a:ext cx="8229600" cy="54459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Response Generation</a:t>
            </a:r>
            <a:r>
              <a:rPr lang="en-IN" sz="2000" dirty="0"/>
              <a:t> </a:t>
            </a:r>
          </a:p>
          <a:p>
            <a:pPr marL="0" indent="0">
              <a:buNone/>
            </a:pPr>
            <a:r>
              <a:rPr lang="en-IN" sz="2000" b="1" dirty="0"/>
              <a:t>Purpose:</a:t>
            </a:r>
            <a:r>
              <a:rPr lang="en-IN" sz="2000" dirty="0"/>
              <a:t> Produce accurate, grounded answer using retrieved context</a:t>
            </a:r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Steps:</a:t>
            </a:r>
            <a:endParaRPr lang="en-IN" sz="2000" dirty="0"/>
          </a:p>
          <a:p>
            <a:r>
              <a:rPr lang="en-IN" sz="2000" b="1" dirty="0"/>
              <a:t>Retrieval Module</a:t>
            </a:r>
            <a:r>
              <a:rPr lang="en-IN" sz="2000" dirty="0"/>
              <a:t> → Fetched ranked documents/chunks</a:t>
            </a:r>
          </a:p>
          <a:p>
            <a:r>
              <a:rPr lang="en-IN" sz="2000" b="1" dirty="0"/>
              <a:t>Prompt Construction</a:t>
            </a:r>
            <a:r>
              <a:rPr lang="en-IN" sz="2000" dirty="0"/>
              <a:t> → "Using only the following context: [chunks] Answer the question: [query]"</a:t>
            </a:r>
          </a:p>
          <a:p>
            <a:r>
              <a:rPr lang="en-IN" sz="2000" b="1" dirty="0"/>
              <a:t>Generator Model</a:t>
            </a:r>
            <a:r>
              <a:rPr lang="en-IN" sz="2000" dirty="0"/>
              <a:t> → LLM (e.g., GPT-4o, Claude 3.5, Llama 3.1, Amazon Bedrock models)</a:t>
            </a:r>
          </a:p>
          <a:p>
            <a:r>
              <a:rPr lang="en-IN" sz="2000" b="1" dirty="0"/>
              <a:t>Final Response</a:t>
            </a:r>
            <a:r>
              <a:rPr lang="en-IN" sz="2000" dirty="0"/>
              <a:t> → Natural language answer + citations (chunk sources, pages, etc.)</a:t>
            </a:r>
          </a:p>
          <a:p>
            <a:r>
              <a:rPr lang="en-IN" sz="2000" b="1" dirty="0"/>
              <a:t>Visual:</a:t>
            </a:r>
            <a:r>
              <a:rPr lang="en-IN" sz="2000" dirty="0"/>
              <a:t> Bottom-right part of your diagram (Retrieval → Ranked Documents → Generator Model → Final Response)</a:t>
            </a:r>
            <a:endParaRPr lang="en-IN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76020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F53A-CB8E-0CAA-C46C-3F8C2676D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85452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471</Words>
  <Application>Microsoft Macintosh PowerPoint</Application>
  <PresentationFormat>On-screen Show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Enterprise Document Search using RAG </vt:lpstr>
      <vt:lpstr>Project Overview</vt:lpstr>
      <vt:lpstr>ARCHITECTURE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S, Akshay Ram</cp:lastModifiedBy>
  <cp:revision>3</cp:revision>
  <dcterms:created xsi:type="dcterms:W3CDTF">2013-01-27T09:14:16Z</dcterms:created>
  <dcterms:modified xsi:type="dcterms:W3CDTF">2026-01-13T12:10:12Z</dcterms:modified>
  <cp:category/>
</cp:coreProperties>
</file>