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8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8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0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7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0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0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0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572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6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7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10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22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43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5319BB5-305A-4F41-AF0A-086C710D50F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C48046F-A464-5548-A656-9559C45CA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62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  <p:sldLayoutId id="214748415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EFDD-E407-11E8-74B5-C70EF393C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1" y="1041400"/>
            <a:ext cx="9144000" cy="2387600"/>
          </a:xfrm>
        </p:spPr>
        <p:txBody>
          <a:bodyPr/>
          <a:lstStyle/>
          <a:p>
            <a:r>
              <a:rPr lang="en-US" dirty="0"/>
              <a:t>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A4676-DF77-DBA8-5BBA-BD6366525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7413" y="3614830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Workflow vs Agent Comparison</a:t>
            </a:r>
          </a:p>
        </p:txBody>
      </p:sp>
    </p:spTree>
    <p:extLst>
      <p:ext uri="{BB962C8B-B14F-4D97-AF65-F5344CB8AC3E}">
        <p14:creationId xmlns:p14="http://schemas.microsoft.com/office/powerpoint/2010/main" val="308536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4AB0-9414-A3EB-0D92-5D577988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/>
          <a:lstStyle/>
          <a:p>
            <a:r>
              <a:rPr lang="en-US" dirty="0"/>
              <a:t>WORKFLOW DESIGN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1F7B96C-96E6-0F94-B1AF-5C61D9985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025" y="1596177"/>
            <a:ext cx="10363200" cy="3006891"/>
          </a:xfrm>
        </p:spPr>
      </p:pic>
    </p:spTree>
    <p:extLst>
      <p:ext uri="{BB962C8B-B14F-4D97-AF65-F5344CB8AC3E}">
        <p14:creationId xmlns:p14="http://schemas.microsoft.com/office/powerpoint/2010/main" val="368078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F946E33-6C49-7D1D-5AB9-1EAA724B18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053" y="612844"/>
            <a:ext cx="1090589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1: Preparation (pre-incident baseline)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lang="en-US" altLang="en-US" sz="1800" cap="none" dirty="0"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IR plan, team roles, tools, playbooks, backups, logging, training, simulations.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cap="none" dirty="0"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Sub-steps: Asset inventory, policy updates, tool testing, communication templates.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2: Detection &amp;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lang="en-US" altLang="en-US" sz="1800" cap="none" dirty="0"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potential incident from alerts/logs. Triage alert, collect evidence (logs, network captures), analyze indicators (precursors vs. active), classify severity/type, determine scope (affected systems, data).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cap="none" dirty="0"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cap="none" dirty="0"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hase 3: Containment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Stop spread and limit damage. Short-term (isolate hosts, block IPs, disable accounts); long-term (segment network, patch vulnerabilities); preserve evidence (forensics snapshots).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4: Eradication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Remove root cause. Identify persistence mechanisms, delete malware/backdoors, remove unauthorized access, scan/clean all systems, validate removal.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5: Recovery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Restore normal operations safely. Restore from clean backups, monitor for re-infection, gradually bring systems online, communicate status to stakeholders.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6: Post-Incident Activity (Lessons Learned)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Review and improve. Conduct after-action review meeting, document timeline/RCA, update policies/playbooks/tools, report to regulators if required, train on findings.</a:t>
            </a:r>
          </a:p>
        </p:txBody>
      </p:sp>
    </p:spTree>
    <p:extLst>
      <p:ext uri="{BB962C8B-B14F-4D97-AF65-F5344CB8AC3E}">
        <p14:creationId xmlns:p14="http://schemas.microsoft.com/office/powerpoint/2010/main" val="72235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4C5C-6CE1-650E-53EA-C1FED94E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51392" y="2630910"/>
            <a:ext cx="10364451" cy="1596177"/>
          </a:xfrm>
        </p:spPr>
        <p:txBody>
          <a:bodyPr/>
          <a:lstStyle/>
          <a:p>
            <a:r>
              <a:rPr lang="en-US" dirty="0"/>
              <a:t>AGENT Design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8592435C-1C8F-84AA-15B2-6527AB66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75" y="403411"/>
            <a:ext cx="4150660" cy="60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3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E2AB973-B309-B5B5-DEB2-CC30E8E30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621" y="474347"/>
            <a:ext cx="1108100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Assessment: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evaluates alert (e.g., "Ransomware detected on server in Chennai office") → Classifies (ransomware, exfil, lateral movement?); prioritizes (business impact, affected assets).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Tool Selection &amp; Execution: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Decides based on situation: "High-severity ransomware → Use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web_search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latest strain indicators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code_execution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simulate decryption check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x_semantic_search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recent X posts on similar attacks." Parallel calls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search_images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IOC visuals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browse_page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threat intel feeds).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 &amp; Loops: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containment fails or new IOCs appear → Re-assess: "Results insufficient → Broaden search to from_date:2025-01-01 + exclude known false positives."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Synthesis &amp; Decision: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Cross-verifies (e.g., CTI matches logs), generates tailored plan (e.g., "Isolate subnet X, wipe Y hosts, restore from backup Z").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&amp; Post-Incident: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monitoring during recovery; compiles RCA/report; suggests playbook updates.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Alert: "Unusual login from India IP" → Agent decides: Situation = possible credential stuffing → Tools: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x_keyword_search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(query: "credential stuffing India" since:2026-01-01), web search ("latest credential stuffing IOCs"), then containment (disable account) if confirmed.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39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1CAF27-402B-2452-7F26-480B0518E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696500"/>
              </p:ext>
            </p:extLst>
          </p:nvPr>
        </p:nvGraphicFramePr>
        <p:xfrm>
          <a:off x="1530723" y="1516566"/>
          <a:ext cx="9130554" cy="485357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043518">
                  <a:extLst>
                    <a:ext uri="{9D8B030D-6E8A-4147-A177-3AD203B41FA5}">
                      <a16:colId xmlns:a16="http://schemas.microsoft.com/office/drawing/2014/main" val="1382518973"/>
                    </a:ext>
                  </a:extLst>
                </a:gridCol>
                <a:gridCol w="3043518">
                  <a:extLst>
                    <a:ext uri="{9D8B030D-6E8A-4147-A177-3AD203B41FA5}">
                      <a16:colId xmlns:a16="http://schemas.microsoft.com/office/drawing/2014/main" val="3287827550"/>
                    </a:ext>
                  </a:extLst>
                </a:gridCol>
                <a:gridCol w="3043518">
                  <a:extLst>
                    <a:ext uri="{9D8B030D-6E8A-4147-A177-3AD203B41FA5}">
                      <a16:colId xmlns:a16="http://schemas.microsoft.com/office/drawing/2014/main" val="41249200"/>
                    </a:ext>
                  </a:extLst>
                </a:gridCol>
              </a:tblGrid>
              <a:tr h="689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Aptos" panose="020B0004020202020204" pitchFamily="34" charset="0"/>
                        </a:rPr>
                        <a:t>Aspect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Aptos" panose="020B0004020202020204" pitchFamily="34" charset="0"/>
                        </a:rPr>
                        <a:t>Workflow</a:t>
                      </a: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Aptos" panose="020B0004020202020204" pitchFamily="34" charset="0"/>
                        </a:rPr>
                        <a:t>Agent</a:t>
                      </a: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4294809818"/>
                  </a:ext>
                </a:extLst>
              </a:tr>
              <a:tr h="647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Structure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Aptos" panose="020B0004020202020204" pitchFamily="34" charset="0"/>
                        </a:rPr>
                        <a:t>Linear phases with sub-steps; sequential.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Branching decisions, parallel tools, loops for iteration.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1926272582"/>
                  </a:ext>
                </a:extLst>
              </a:tr>
              <a:tr h="647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Flexibility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Aptos" panose="020B0004020202020204" pitchFamily="34" charset="0"/>
                        </a:rPr>
                        <a:t>Low – rigid playbook adherence.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Aptos" panose="020B0004020202020204" pitchFamily="34" charset="0"/>
                        </a:rPr>
                        <a:t>High – context-aware pivots, tool selection, refinement.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2901857030"/>
                  </a:ext>
                </a:extLst>
              </a:tr>
              <a:tr h="647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Efficiency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Predictable speed for known incidents; slower for novel ones.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Faster for complex/novel; decision overhead but optimizes overall.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376329329"/>
                  </a:ext>
                </a:extLst>
              </a:tr>
              <a:tr h="925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Reliability</a:t>
                      </a:r>
                      <a:endParaRPr lang="en-IN" sz="1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High consistency; easy auditing/compliance.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LLM-dependent; mitigated by tools/validation but hallucination risk.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494874639"/>
                  </a:ext>
                </a:extLst>
              </a:tr>
              <a:tr h="647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effectLst/>
                          <a:latin typeface="Aptos" panose="020B0004020202020204" pitchFamily="34" charset="0"/>
                        </a:rPr>
                        <a:t>Scalability</a:t>
                      </a:r>
                      <a:endParaRPr lang="en-IN" sz="14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Good for volume of similar incidents.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Aptos" panose="020B0004020202020204" pitchFamily="34" charset="0"/>
                        </a:rPr>
                        <a:t>Excellent for diverse, evolving threats; handles 24/7 automation.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74658857"/>
                  </a:ext>
                </a:extLst>
              </a:tr>
              <a:tr h="647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Aptos" panose="020B0004020202020204" pitchFamily="34" charset="0"/>
                        </a:rPr>
                        <a:t>Examples</a:t>
                      </a:r>
                      <a:endParaRPr lang="en-IN" sz="14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Standard phishing → follow playbook steps.</a:t>
                      </a:r>
                    </a:p>
                  </a:txBody>
                  <a:tcPr marL="58038" marR="58038" marT="29019" marB="2901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Aptos" panose="020B0004020202020204" pitchFamily="34" charset="0"/>
                        </a:rPr>
                        <a:t>Zero-day ransomware → dynamic CTI lookup + custom containment.</a:t>
                      </a:r>
                    </a:p>
                  </a:txBody>
                  <a:tcPr marL="58038" marR="58038" marT="29019" marB="29019" anchor="ctr"/>
                </a:tc>
                <a:extLst>
                  <a:ext uri="{0D108BD9-81ED-4DB2-BD59-A6C34878D82A}">
                    <a16:rowId xmlns:a16="http://schemas.microsoft.com/office/drawing/2014/main" val="37257496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99FC0A-94DB-A231-8667-DFAF6DBF7A39}"/>
              </a:ext>
            </a:extLst>
          </p:cNvPr>
          <p:cNvSpPr txBox="1"/>
          <p:nvPr/>
        </p:nvSpPr>
        <p:spPr>
          <a:xfrm>
            <a:off x="3997124" y="487857"/>
            <a:ext cx="419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WORKFLOW vs AGENT</a:t>
            </a:r>
          </a:p>
        </p:txBody>
      </p:sp>
    </p:spTree>
    <p:extLst>
      <p:ext uri="{BB962C8B-B14F-4D97-AF65-F5344CB8AC3E}">
        <p14:creationId xmlns:p14="http://schemas.microsoft.com/office/powerpoint/2010/main" val="357917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4610-1948-AB90-0632-0C7094D8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255447"/>
            <a:ext cx="10364451" cy="1075812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What to use?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10B183-8BDE-0695-DAD5-D663FD5F6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76" y="1459053"/>
            <a:ext cx="10705798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Use Cases: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Regulatory/compliance requirements demand documented, repeatable steps (e.g., finance, healthcare).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is large/junior → needs clear checklists to reduce errors.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Incidents are mostly known/common (e.g., standard malware).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 trail and legal defensibility are priorities.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 limit advanced AI (simpler SOAR playbooks suffice).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use cases: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Threats are sophisticated, novel, or fast-moving (e.g., APTs, zero-days).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rapid triage/analysis with real-time intel integration.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24/7 operations with limited staff → automate initial phases.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has rich tooling (SIEM, EDR, threat feeds) → agent orchestrates them.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 is reducing MTTR (mean time to respond) in dynamic threat landscape.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16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1A5B-C704-AE0A-B5CC-DE81450FD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263162"/>
            <a:ext cx="10364451" cy="1596177"/>
          </a:xfrm>
        </p:spPr>
        <p:txBody>
          <a:bodyPr/>
          <a:lstStyle/>
          <a:p>
            <a:r>
              <a:rPr lang="en-US" dirty="0" err="1"/>
              <a:t>CONCLusion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B70064-132C-0FF0-FA5B-FCEC807E93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495" y="1859339"/>
            <a:ext cx="107950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Strengths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Linear NIST-based phases 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DPDP Act traceability),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known threats and regulated environments.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Strengths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LLM-orchestrated dynamic decisions 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(faster triage/containment),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novel/zero-day attacks,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(CTI, X posts, web feeds), 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repetitive tasks.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cap="none" dirty="0">
                <a:effectLst/>
                <a:latin typeface="Arial" panose="020B0604020202020204" pitchFamily="34" charset="0"/>
              </a:rPr>
              <a:t>Best option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Hybrid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Combine workflow structure for governance with agent acceleration for triage, analysis, and initial containment → Reduces MTTR (Mean time to respond) dramatically (from hours to minutes in high-velocity incidents like ransomware).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04638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36</TotalTime>
  <Words>864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Tw Cen MT</vt:lpstr>
      <vt:lpstr>Droplet</vt:lpstr>
      <vt:lpstr>Incident Response</vt:lpstr>
      <vt:lpstr>WORKFLOW DESIGN</vt:lpstr>
      <vt:lpstr>PowerPoint Presentation</vt:lpstr>
      <vt:lpstr>AGENT Design</vt:lpstr>
      <vt:lpstr>PowerPoint Presentation</vt:lpstr>
      <vt:lpstr>PowerPoint Presentation</vt:lpstr>
      <vt:lpstr>What to use?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S, Akshay Ram</dc:creator>
  <cp:lastModifiedBy>S, Akshay Ram</cp:lastModifiedBy>
  <cp:revision>2</cp:revision>
  <dcterms:created xsi:type="dcterms:W3CDTF">2026-01-19T10:39:11Z</dcterms:created>
  <dcterms:modified xsi:type="dcterms:W3CDTF">2026-01-19T11:15:37Z</dcterms:modified>
</cp:coreProperties>
</file>